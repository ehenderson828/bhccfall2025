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6" r:id="rId7"/>
    <p:sldId id="287" r:id="rId8"/>
    <p:sldId id="288" r:id="rId9"/>
    <p:sldId id="289" r:id="rId10"/>
    <p:sldId id="290" r:id="rId11"/>
    <p:sldId id="291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4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11/30/2025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jQuery and AJAX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Week 14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What is AJAX?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AJAX enables seamless communication with a server to retrieve or send data, allowing specific sections of a web page to update dynamically without requiring a full page reload.</a:t>
            </a:r>
          </a:p>
          <a:p>
            <a:endParaRPr lang="en-US" sz="2000" dirty="0"/>
          </a:p>
          <a:p>
            <a:r>
              <a:rPr lang="en-US" sz="2000" dirty="0"/>
              <a:t>AJAX stands for Asynchronous JavaScript and XML.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1A3B-CD22-89CD-490B-DD43CE5F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6F41989-2976-BF4D-804A-EB8057AB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jQuery and AJAX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619E60-D5A4-0BB9-C0EE-E1218090FD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jQuery offers a variety of tools to implement AJAX features. These methods allow you to retrieve text, HTML, XML, or JSON data from a remote server using either HTTP GET or POST requests, and then seamlessly insert that data into specific elements on your web page.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997B4-92FD-0D1B-9407-99643B5C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591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77239-FC25-1531-94FD-D298D473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046FAF-E9CD-791E-F1AE-DC8BC3909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jQuery load() Method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C33C07-8F7B-2BCD-384E-57424A77F2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jQuery offers a variety of tools to implement AJAX features. These methods allow you to retrieve text, HTML, XML, or JSON data from a remote server using either HTTP GET or POST requests, and then seamlessly insert that data into specific elements on your web page.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4D5BD7-9860-7B18-B3A7-F9B28AF1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412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2EE94-B24D-CC35-61AC-3C2F9F469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B3766BA-ED46-EE95-B50B-09E607C3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jQuery load() Method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47EA16-44A6-5811-BAF6-186B46F403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The </a:t>
            </a:r>
            <a:r>
              <a:rPr lang="en-US" sz="2000" b="1" dirty="0"/>
              <a:t>jQuery </a:t>
            </a:r>
            <a:r>
              <a:rPr lang="en-US" b="1" dirty="0"/>
              <a:t>load()</a:t>
            </a:r>
            <a:r>
              <a:rPr lang="en-US" sz="2000" b="1" dirty="0"/>
              <a:t> method</a:t>
            </a:r>
            <a:r>
              <a:rPr lang="en-US" sz="2000" dirty="0"/>
              <a:t> is a straightforward yet highly effective AJAX tool. It retrieves data from a server and inserts the response directly into the chosen HTML element.</a:t>
            </a:r>
          </a:p>
          <a:p>
            <a:endParaRPr lang="en-US" sz="2000" dirty="0"/>
          </a:p>
          <a:p>
            <a:r>
              <a:rPr lang="en-US" sz="2000" dirty="0"/>
              <a:t>Syntax: </a:t>
            </a:r>
          </a:p>
          <a:p>
            <a:pPr lvl="1"/>
            <a:r>
              <a:rPr lang="en-US" sz="1800" i="1" dirty="0"/>
              <a:t>$(selector).load(URL, data, callback);</a:t>
            </a:r>
          </a:p>
          <a:p>
            <a:pPr lvl="1"/>
            <a:r>
              <a:rPr lang="en-US" sz="1800" dirty="0"/>
              <a:t>The </a:t>
            </a:r>
            <a:r>
              <a:rPr lang="en-US" dirty="0"/>
              <a:t>load()</a:t>
            </a:r>
            <a:r>
              <a:rPr lang="en-US" sz="1800" dirty="0"/>
              <a:t> method lets you fetch data from a server and insert it directly into a chosen HTML element — all without refreshing the page.</a:t>
            </a:r>
          </a:p>
          <a:p>
            <a:endParaRPr lang="en-US" sz="2000" i="1" dirty="0"/>
          </a:p>
          <a:p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ABB1E0-B168-FA88-BC3B-91DB3EB7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984DA07-520E-D351-7A6D-4372BFADA867}"/>
              </a:ext>
            </a:extLst>
          </p:cNvPr>
          <p:cNvSpPr/>
          <p:nvPr/>
        </p:nvSpPr>
        <p:spPr>
          <a:xfrm>
            <a:off x="7457995" y="1514765"/>
            <a:ext cx="4434193" cy="3964599"/>
          </a:xfrm>
          <a:prstGeom prst="roundRect">
            <a:avLst/>
          </a:prstGeom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46174-A70E-E2FB-D5AE-7A726D50BF29}"/>
              </a:ext>
            </a:extLst>
          </p:cNvPr>
          <p:cNvSpPr txBox="1"/>
          <p:nvPr/>
        </p:nvSpPr>
        <p:spPr>
          <a:xfrm>
            <a:off x="7932882" y="1914167"/>
            <a:ext cx="38146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selector → The element where the content will be placed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URL → The server file or resource you’re loading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(optional) → Key-value pairs sent to the server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- callback (optional) → A function that runs after the content is loaded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214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EE036-889A-5429-E949-B4FF7B43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E3896A-952D-14BE-2040-E742691E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Loading a text file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FF979-755C-0F53-AB9C-1EF878A17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sz="2000" i="1" dirty="0"/>
          </a:p>
          <a:p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F401CA-F5FC-4E5A-3386-8890AFA8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67E05C-BDA0-DD45-04D7-2CED9A18B485}"/>
              </a:ext>
            </a:extLst>
          </p:cNvPr>
          <p:cNvSpPr/>
          <p:nvPr/>
        </p:nvSpPr>
        <p:spPr>
          <a:xfrm>
            <a:off x="120073" y="1365888"/>
            <a:ext cx="8414327" cy="4506814"/>
          </a:xfrm>
          <a:prstGeom prst="roundRect">
            <a:avLst/>
          </a:prstGeom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799F0-FF5D-C550-3AA5-5D0F28CA8EFC}"/>
              </a:ext>
            </a:extLst>
          </p:cNvPr>
          <p:cNvSpPr txBox="1"/>
          <p:nvPr/>
        </p:nvSpPr>
        <p:spPr>
          <a:xfrm>
            <a:off x="248804" y="1548347"/>
            <a:ext cx="81932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&lt;html&gt;</a:t>
            </a:r>
          </a:p>
          <a:p>
            <a:r>
              <a:rPr lang="en-US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dirty="0">
                <a:solidFill>
                  <a:schemeClr val="bg1"/>
                </a:solidFill>
              </a:rPr>
              <a:t>&lt;script </a:t>
            </a:r>
            <a:r>
              <a:rPr lang="en-US" dirty="0" err="1">
                <a:solidFill>
                  <a:schemeClr val="bg1"/>
                </a:solidFill>
              </a:rPr>
              <a:t>src</a:t>
            </a:r>
            <a:r>
              <a:rPr lang="en-US" dirty="0">
                <a:solidFill>
                  <a:schemeClr val="bg1"/>
                </a:solidFill>
              </a:rPr>
              <a:t>="https://ajax.googleapis.com/ajax/libs/</a:t>
            </a:r>
            <a:r>
              <a:rPr lang="en-US" dirty="0" err="1">
                <a:solidFill>
                  <a:schemeClr val="bg1"/>
                </a:solidFill>
              </a:rPr>
              <a:t>jquery</a:t>
            </a:r>
            <a:r>
              <a:rPr lang="en-US" dirty="0">
                <a:solidFill>
                  <a:schemeClr val="bg1"/>
                </a:solidFill>
              </a:rPr>
              <a:t>/3.7.1/jquery.min.js"&gt;&lt;/script&gt;</a:t>
            </a:r>
          </a:p>
          <a:p>
            <a:r>
              <a:rPr lang="en-US" dirty="0">
                <a:solidFill>
                  <a:schemeClr val="bg1"/>
                </a:solidFill>
              </a:rPr>
              <a:t>&lt;script&gt;</a:t>
            </a:r>
          </a:p>
          <a:p>
            <a:r>
              <a:rPr lang="en-US" dirty="0">
                <a:solidFill>
                  <a:schemeClr val="bg1"/>
                </a:solidFill>
              </a:rPr>
              <a:t>$(document).ready(function(){</a:t>
            </a:r>
          </a:p>
          <a:p>
            <a:r>
              <a:rPr lang="en-US" dirty="0">
                <a:solidFill>
                  <a:schemeClr val="bg1"/>
                </a:solidFill>
              </a:rPr>
              <a:t>$("button").click(function(){</a:t>
            </a:r>
          </a:p>
          <a:p>
            <a:r>
              <a:rPr lang="en-US" dirty="0">
                <a:solidFill>
                  <a:schemeClr val="bg1"/>
                </a:solidFill>
              </a:rPr>
              <a:t>$("#container").load("content.txt");});});&lt;/script&gt;&lt;/head&gt;</a:t>
            </a:r>
          </a:p>
          <a:p>
            <a:r>
              <a:rPr lang="en-US" dirty="0">
                <a:solidFill>
                  <a:schemeClr val="bg1"/>
                </a:solidFill>
              </a:rPr>
              <a:t>&lt;body&gt;</a:t>
            </a:r>
          </a:p>
          <a:p>
            <a:r>
              <a:rPr lang="en-US" dirty="0">
                <a:solidFill>
                  <a:schemeClr val="bg1"/>
                </a:solidFill>
              </a:rPr>
              <a:t>&lt;div id="container"&gt;&lt;h2&gt;Using jQuery AJAX to load external file&lt;/h2&gt;&lt;/div&gt;</a:t>
            </a:r>
          </a:p>
          <a:p>
            <a:r>
              <a:rPr lang="en-US" dirty="0">
                <a:solidFill>
                  <a:schemeClr val="bg1"/>
                </a:solidFill>
              </a:rPr>
              <a:t>&lt;button&gt;Get External Content&lt;/button&gt;</a:t>
            </a:r>
          </a:p>
          <a:p>
            <a:r>
              <a:rPr lang="en-US" dirty="0">
                <a:solidFill>
                  <a:schemeClr val="bg1"/>
                </a:solidFill>
              </a:rPr>
              <a:t>&lt;/body&gt;</a:t>
            </a:r>
          </a:p>
          <a:p>
            <a:r>
              <a:rPr lang="en-US" dirty="0">
                <a:solidFill>
                  <a:schemeClr val="bg1"/>
                </a:solidFill>
              </a:rPr>
              <a:t>&lt;/html&gt;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28806-34D4-C98B-CDC0-6B6A7E56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496" y="743372"/>
            <a:ext cx="4429743" cy="1609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4FEA8-CBD1-9246-5779-70C6066EF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0" y="2743237"/>
            <a:ext cx="4134427" cy="1324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A6E3C7BF-41CB-37A3-492D-22E955912987}"/>
              </a:ext>
            </a:extLst>
          </p:cNvPr>
          <p:cNvSpPr/>
          <p:nvPr/>
        </p:nvSpPr>
        <p:spPr>
          <a:xfrm>
            <a:off x="8250254" y="1909234"/>
            <a:ext cx="320512" cy="13241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49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E282F-C4E1-A9DA-235F-93A180243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E56A8C-CFF7-62E9-B1F9-FFA05DF7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Loading an HTML page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61FCFF6-61F9-B56A-208D-492E29A51C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sz="2000" i="1" dirty="0"/>
          </a:p>
          <a:p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9D0E8-8F74-5C17-ED50-9100DA57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CA7714-F847-3126-B4E1-346F672CF758}"/>
              </a:ext>
            </a:extLst>
          </p:cNvPr>
          <p:cNvSpPr/>
          <p:nvPr/>
        </p:nvSpPr>
        <p:spPr>
          <a:xfrm>
            <a:off x="120073" y="1365888"/>
            <a:ext cx="8414327" cy="4506814"/>
          </a:xfrm>
          <a:prstGeom prst="roundRect">
            <a:avLst/>
          </a:prstGeom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A6E20-4326-A08C-F17A-50FEB562A81A}"/>
              </a:ext>
            </a:extLst>
          </p:cNvPr>
          <p:cNvSpPr txBox="1"/>
          <p:nvPr/>
        </p:nvSpPr>
        <p:spPr>
          <a:xfrm>
            <a:off x="248804" y="1548347"/>
            <a:ext cx="81932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&lt;html&gt;</a:t>
            </a:r>
          </a:p>
          <a:p>
            <a:r>
              <a:rPr lang="en-US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dirty="0">
                <a:solidFill>
                  <a:schemeClr val="bg1"/>
                </a:solidFill>
              </a:rPr>
              <a:t>&lt;script </a:t>
            </a:r>
            <a:r>
              <a:rPr lang="en-US" dirty="0" err="1">
                <a:solidFill>
                  <a:schemeClr val="bg1"/>
                </a:solidFill>
              </a:rPr>
              <a:t>src</a:t>
            </a:r>
            <a:r>
              <a:rPr lang="en-US" dirty="0">
                <a:solidFill>
                  <a:schemeClr val="bg1"/>
                </a:solidFill>
              </a:rPr>
              <a:t>="https://ajax.googleapis.com/ajax/libs/</a:t>
            </a:r>
            <a:r>
              <a:rPr lang="en-US" dirty="0" err="1">
                <a:solidFill>
                  <a:schemeClr val="bg1"/>
                </a:solidFill>
              </a:rPr>
              <a:t>jquery</a:t>
            </a:r>
            <a:r>
              <a:rPr lang="en-US" dirty="0">
                <a:solidFill>
                  <a:schemeClr val="bg1"/>
                </a:solidFill>
              </a:rPr>
              <a:t>/3.7.1/jquery.min.js"&gt;&lt;/script&gt;</a:t>
            </a:r>
          </a:p>
          <a:p>
            <a:r>
              <a:rPr lang="en-US" dirty="0">
                <a:solidFill>
                  <a:schemeClr val="bg1"/>
                </a:solidFill>
              </a:rPr>
              <a:t>&lt;script&gt;</a:t>
            </a:r>
          </a:p>
          <a:p>
            <a:r>
              <a:rPr lang="en-US" dirty="0">
                <a:solidFill>
                  <a:schemeClr val="bg1"/>
                </a:solidFill>
              </a:rPr>
              <a:t>$(document).ready(function(){</a:t>
            </a:r>
          </a:p>
          <a:p>
            <a:r>
              <a:rPr lang="en-US" dirty="0">
                <a:solidFill>
                  <a:schemeClr val="bg1"/>
                </a:solidFill>
              </a:rPr>
              <a:t>$("button").click(function(){</a:t>
            </a:r>
          </a:p>
          <a:p>
            <a:r>
              <a:rPr lang="en-US" dirty="0">
                <a:solidFill>
                  <a:schemeClr val="bg1"/>
                </a:solidFill>
              </a:rPr>
              <a:t>$("#container").load("test.html");});});&lt;/script&gt;&lt;/head&gt;</a:t>
            </a:r>
          </a:p>
          <a:p>
            <a:r>
              <a:rPr lang="en-US" dirty="0">
                <a:solidFill>
                  <a:schemeClr val="bg1"/>
                </a:solidFill>
              </a:rPr>
              <a:t>&lt;body&gt;</a:t>
            </a:r>
          </a:p>
          <a:p>
            <a:r>
              <a:rPr lang="en-US" dirty="0">
                <a:solidFill>
                  <a:schemeClr val="bg1"/>
                </a:solidFill>
              </a:rPr>
              <a:t>&lt;div id="container"&gt;&lt;h2&gt;Using jQuery AJAX to load external file&lt;/h2&gt;&lt;/div&gt;</a:t>
            </a:r>
          </a:p>
          <a:p>
            <a:r>
              <a:rPr lang="en-US" dirty="0">
                <a:solidFill>
                  <a:schemeClr val="bg1"/>
                </a:solidFill>
              </a:rPr>
              <a:t>&lt;button&gt;Get External Content&lt;/button&gt;</a:t>
            </a:r>
          </a:p>
          <a:p>
            <a:r>
              <a:rPr lang="en-US" dirty="0">
                <a:solidFill>
                  <a:schemeClr val="bg1"/>
                </a:solidFill>
              </a:rPr>
              <a:t>&lt;/body&gt;</a:t>
            </a:r>
          </a:p>
          <a:p>
            <a:r>
              <a:rPr lang="en-US" dirty="0">
                <a:solidFill>
                  <a:schemeClr val="bg1"/>
                </a:solidFill>
              </a:rPr>
              <a:t>&lt;/html&gt;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7CFD4-3C6E-7FDE-EC43-7C29E00D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453" y="155568"/>
            <a:ext cx="4429743" cy="1609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543C8F81-CC7F-FCA1-9BED-7F7571BE08D5}"/>
              </a:ext>
            </a:extLst>
          </p:cNvPr>
          <p:cNvSpPr/>
          <p:nvPr/>
        </p:nvSpPr>
        <p:spPr>
          <a:xfrm rot="19690586">
            <a:off x="8921396" y="1222487"/>
            <a:ext cx="320512" cy="8057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3C5B80-BC84-71F4-5487-5F5804BF4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817" y="1963609"/>
            <a:ext cx="2933783" cy="45340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51330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F204-8BCA-5C7B-ACE0-F7DC9744E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907F21-AE96-0C5F-842F-FEA733680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Loading an XML page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B0EA2F-04FD-FAF7-0E0E-A9A1145533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sz="2000" i="1" dirty="0"/>
          </a:p>
          <a:p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ECF9BA-0490-7DB4-3B70-7E45C770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6810E7-88A8-402B-26E9-A9AA27731DD6}"/>
              </a:ext>
            </a:extLst>
          </p:cNvPr>
          <p:cNvSpPr/>
          <p:nvPr/>
        </p:nvSpPr>
        <p:spPr>
          <a:xfrm>
            <a:off x="120073" y="1365888"/>
            <a:ext cx="8414327" cy="4506814"/>
          </a:xfrm>
          <a:prstGeom prst="roundRect">
            <a:avLst/>
          </a:prstGeom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4A8A2-D283-6C54-EA58-E4A722CEE4F0}"/>
              </a:ext>
            </a:extLst>
          </p:cNvPr>
          <p:cNvSpPr txBox="1"/>
          <p:nvPr/>
        </p:nvSpPr>
        <p:spPr>
          <a:xfrm>
            <a:off x="248804" y="1548347"/>
            <a:ext cx="81932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&lt;html&gt;</a:t>
            </a:r>
          </a:p>
          <a:p>
            <a:r>
              <a:rPr lang="en-US" dirty="0">
                <a:solidFill>
                  <a:schemeClr val="bg1"/>
                </a:solidFill>
              </a:rPr>
              <a:t>&lt;head&gt;</a:t>
            </a:r>
          </a:p>
          <a:p>
            <a:r>
              <a:rPr lang="en-US" dirty="0">
                <a:solidFill>
                  <a:schemeClr val="bg1"/>
                </a:solidFill>
              </a:rPr>
              <a:t>&lt;script </a:t>
            </a:r>
            <a:r>
              <a:rPr lang="en-US" dirty="0" err="1">
                <a:solidFill>
                  <a:schemeClr val="bg1"/>
                </a:solidFill>
              </a:rPr>
              <a:t>src</a:t>
            </a:r>
            <a:r>
              <a:rPr lang="en-US" dirty="0">
                <a:solidFill>
                  <a:schemeClr val="bg1"/>
                </a:solidFill>
              </a:rPr>
              <a:t>="https://ajax.googleapis.com/ajax/libs/</a:t>
            </a:r>
            <a:r>
              <a:rPr lang="en-US" dirty="0" err="1">
                <a:solidFill>
                  <a:schemeClr val="bg1"/>
                </a:solidFill>
              </a:rPr>
              <a:t>jquery</a:t>
            </a:r>
            <a:r>
              <a:rPr lang="en-US" dirty="0">
                <a:solidFill>
                  <a:schemeClr val="bg1"/>
                </a:solidFill>
              </a:rPr>
              <a:t>/3.7.1/jquery.min.js"&gt;&lt;/script&gt;</a:t>
            </a:r>
          </a:p>
          <a:p>
            <a:r>
              <a:rPr lang="en-US" dirty="0">
                <a:solidFill>
                  <a:schemeClr val="bg1"/>
                </a:solidFill>
              </a:rPr>
              <a:t>&lt;script&gt;</a:t>
            </a:r>
          </a:p>
          <a:p>
            <a:r>
              <a:rPr lang="en-US" dirty="0">
                <a:solidFill>
                  <a:schemeClr val="bg1"/>
                </a:solidFill>
              </a:rPr>
              <a:t>$(document).ready(function(){</a:t>
            </a:r>
          </a:p>
          <a:p>
            <a:r>
              <a:rPr lang="en-US" dirty="0">
                <a:solidFill>
                  <a:schemeClr val="bg1"/>
                </a:solidFill>
              </a:rPr>
              <a:t>$("button").click(function(){</a:t>
            </a:r>
          </a:p>
          <a:p>
            <a:r>
              <a:rPr lang="en-US" dirty="0">
                <a:solidFill>
                  <a:schemeClr val="bg1"/>
                </a:solidFill>
              </a:rPr>
              <a:t>$("#container").load("portfolio.xml");});});&lt;/script&gt;&lt;/head&gt;</a:t>
            </a:r>
          </a:p>
          <a:p>
            <a:r>
              <a:rPr lang="en-US" dirty="0">
                <a:solidFill>
                  <a:schemeClr val="bg1"/>
                </a:solidFill>
              </a:rPr>
              <a:t>&lt;body&gt;</a:t>
            </a:r>
          </a:p>
          <a:p>
            <a:r>
              <a:rPr lang="en-US" dirty="0">
                <a:solidFill>
                  <a:schemeClr val="bg1"/>
                </a:solidFill>
              </a:rPr>
              <a:t>&lt;div id="container"&gt;&lt;h2&gt;Using jQuery AJAX to load external file&lt;/h2&gt;&lt;/div&gt;</a:t>
            </a:r>
          </a:p>
          <a:p>
            <a:r>
              <a:rPr lang="en-US" dirty="0">
                <a:solidFill>
                  <a:schemeClr val="bg1"/>
                </a:solidFill>
              </a:rPr>
              <a:t>&lt;button&gt;Get External Content&lt;/button&gt;</a:t>
            </a:r>
          </a:p>
          <a:p>
            <a:r>
              <a:rPr lang="en-US" dirty="0">
                <a:solidFill>
                  <a:schemeClr val="bg1"/>
                </a:solidFill>
              </a:rPr>
              <a:t>&lt;/body&gt;</a:t>
            </a:r>
          </a:p>
          <a:p>
            <a:r>
              <a:rPr lang="en-US" dirty="0">
                <a:solidFill>
                  <a:schemeClr val="bg1"/>
                </a:solidFill>
              </a:rPr>
              <a:t>&lt;/html&gt;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B8D8C-0B1F-8D4B-3A8F-7E0883DC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453" y="155568"/>
            <a:ext cx="4429743" cy="1609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5E8EFBFA-8B83-D9CE-69DA-DCA162BF0C1E}"/>
              </a:ext>
            </a:extLst>
          </p:cNvPr>
          <p:cNvSpPr/>
          <p:nvPr/>
        </p:nvSpPr>
        <p:spPr>
          <a:xfrm rot="19690586">
            <a:off x="9081995" y="1145448"/>
            <a:ext cx="320512" cy="8057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027E80-0DC1-8365-DA19-36B059908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25"/>
          <a:stretch>
            <a:fillRect/>
          </a:stretch>
        </p:blipFill>
        <p:spPr>
          <a:xfrm>
            <a:off x="9374687" y="1871005"/>
            <a:ext cx="2372813" cy="48091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99735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u="sng" dirty="0"/>
              <a:t>https://www.w3schools.com/jquery/jquery_ajax_intro.asp</a:t>
            </a: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42</TotalTime>
  <Words>628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Trade Gothic LT Pro</vt:lpstr>
      <vt:lpstr>Trebuchet MS</vt:lpstr>
      <vt:lpstr>Office Theme</vt:lpstr>
      <vt:lpstr>jQuery and AJAX</vt:lpstr>
      <vt:lpstr>What is AJAX?</vt:lpstr>
      <vt:lpstr>jQuery and AJAX</vt:lpstr>
      <vt:lpstr>jQuery load() Method</vt:lpstr>
      <vt:lpstr>jQuery load() Method</vt:lpstr>
      <vt:lpstr>Loading a text file</vt:lpstr>
      <vt:lpstr>Loading an HTML page</vt:lpstr>
      <vt:lpstr>Loading an XML page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Sabouni, Youssef</dc:creator>
  <cp:lastModifiedBy>Sabouni, Youssef</cp:lastModifiedBy>
  <cp:revision>12</cp:revision>
  <dcterms:created xsi:type="dcterms:W3CDTF">2025-11-30T15:52:50Z</dcterms:created>
  <dcterms:modified xsi:type="dcterms:W3CDTF">2025-11-30T16:35:07Z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